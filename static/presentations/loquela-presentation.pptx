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6d760505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f6d7605054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cover visual is a user-provided Loquela contextual-learning graphic.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d7605054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g3f6d7605054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This slide is intentionally screenshot-free: it gives the audience the mental model before the product tour begins.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6d7605054_0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f6d7605054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This slide uses the user-provided Add a source screenshot at full width so the three intake paths remain legible.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d7605054_0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f6d7605054_0_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This slide uses the user-provided processing and ready source screenshots side-by-side as the second half of the ingestion story.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6d7605054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3f6d7605054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previous three-panel placeholder layout was replaced with two readable, user-provided lookup captures: loading and results.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6d7605054_0_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3f6d7605054_0_1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user-provided Save card modal and Cards library captures replace the two sample placeholders.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6d7605054_0_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g3f6d7605054_0_1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three narrow placeholders were consolidated into two larger user-provided captures: deck creation/library and exports/download.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6d7605054_0_1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g3f6d7605054_0_1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user-provided Anki front and back screenshots replace the sample placeholders on the export payoff slide.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6d7605054_0_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f6d7605054_0_1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The user-provided Loquela answer-state screenshot is the primary practice visual. The dark-mode dashboard is intentionally secondary, as requested.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6d7605054_0_2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g3f6d7605054_0_2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No web sources used. Sample UI screens are generated from the current Loquela frontend and portfolio context. User-provided product screenshots are cited in the slide notes where used.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Helvetica Neue"/>
                <a:ea typeface="Helvetica Neue"/>
                <a:cs typeface="Helvetica Neue"/>
                <a:sym typeface="Helvetica Neue"/>
              </a:rPr>
              <a:t>This closing slide is based on the portfolio project note that Loquela is currently invite-only while it is being tested.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"/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4B2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/>
        </p:nvSpPr>
        <p:spPr>
          <a:xfrm>
            <a:off x="571500" y="342900"/>
            <a:ext cx="20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4D8"/>
              </a:buClr>
              <a:buSzPts val="600"/>
              <a:buFont typeface="Courier New"/>
              <a:buNone/>
            </a:pPr>
            <a:r>
              <a:rPr b="1" i="0" lang="en" sz="600" u="none" cap="none" strike="noStrike">
                <a:solidFill>
                  <a:srgbClr val="FFF4D8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</a:t>
            </a:r>
            <a:endParaRPr sz="1100"/>
          </a:p>
        </p:txBody>
      </p:sp>
      <p:sp>
        <p:nvSpPr>
          <p:cNvPr id="137" name="Google Shape;137;p14"/>
          <p:cNvSpPr txBox="1"/>
          <p:nvPr/>
        </p:nvSpPr>
        <p:spPr>
          <a:xfrm>
            <a:off x="571500" y="1042988"/>
            <a:ext cx="37149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3200"/>
              <a:buFont typeface="Georgia"/>
              <a:buNone/>
            </a:pPr>
            <a:r>
              <a:rPr b="1" i="0" lang="en" sz="3200" u="none" cap="none" strike="noStrike">
                <a:solidFill>
                  <a:srgbClr val="FFFDF5"/>
                </a:solidFill>
                <a:latin typeface="Georgia"/>
                <a:ea typeface="Georgia"/>
                <a:cs typeface="Georgia"/>
                <a:sym typeface="Georgia"/>
              </a:rPr>
              <a:t>A current-state</a:t>
            </a:r>
            <a:endParaRPr sz="1100"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3200"/>
              <a:buFont typeface="Georgia"/>
              <a:buNone/>
            </a:pPr>
            <a:r>
              <a:rPr b="1" i="0" lang="en" sz="3200" u="none" cap="none" strike="noStrike">
                <a:solidFill>
                  <a:srgbClr val="FFFDF5"/>
                </a:solidFill>
                <a:latin typeface="Georgia"/>
                <a:ea typeface="Georgia"/>
                <a:cs typeface="Georgia"/>
                <a:sym typeface="Georgia"/>
              </a:rPr>
              <a:t>walkthrough.</a:t>
            </a:r>
            <a:endParaRPr sz="1100"/>
          </a:p>
        </p:txBody>
      </p:sp>
      <p:sp>
        <p:nvSpPr>
          <p:cNvPr id="138" name="Google Shape;138;p14"/>
          <p:cNvSpPr txBox="1"/>
          <p:nvPr/>
        </p:nvSpPr>
        <p:spPr>
          <a:xfrm>
            <a:off x="600075" y="2386013"/>
            <a:ext cx="35004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F7F5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4F7F5"/>
                </a:solidFill>
                <a:latin typeface="Arial"/>
                <a:ea typeface="Arial"/>
                <a:cs typeface="Arial"/>
                <a:sym typeface="Arial"/>
              </a:rPr>
              <a:t>From everyday content to structured practice.</a:t>
            </a:r>
            <a:endParaRPr sz="1100"/>
          </a:p>
        </p:txBody>
      </p:sp>
      <p:sp>
        <p:nvSpPr>
          <p:cNvPr id="139" name="Google Shape;139;p14"/>
          <p:cNvSpPr/>
          <p:nvPr/>
        </p:nvSpPr>
        <p:spPr>
          <a:xfrm>
            <a:off x="600075" y="2800350"/>
            <a:ext cx="800100" cy="28500"/>
          </a:xfrm>
          <a:prstGeom prst="rect">
            <a:avLst/>
          </a:prstGeom>
          <a:solidFill>
            <a:srgbClr val="C88A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00075" y="2986088"/>
            <a:ext cx="3714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4D8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4D8"/>
                </a:solidFill>
                <a:latin typeface="Arial"/>
                <a:ea typeface="Arial"/>
                <a:cs typeface="Arial"/>
                <a:sym typeface="Arial"/>
              </a:rPr>
              <a:t>Source  →  lookup  →  card  →  deck  →  practice</a:t>
            </a:r>
            <a:endParaRPr sz="1100"/>
          </a:p>
        </p:txBody>
      </p:sp>
      <p:sp>
        <p:nvSpPr>
          <p:cNvPr id="141" name="Google Shape;141;p14"/>
          <p:cNvSpPr txBox="1"/>
          <p:nvPr/>
        </p:nvSpPr>
        <p:spPr>
          <a:xfrm>
            <a:off x="600075" y="4643438"/>
            <a:ext cx="2143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4F7F5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E4F7F5"/>
                </a:solidFill>
                <a:latin typeface="Courier New"/>
                <a:ea typeface="Courier New"/>
                <a:cs typeface="Courier New"/>
                <a:sym typeface="Courier New"/>
              </a:rPr>
              <a:t>PORTFOLIO CASE STUDY · 2026</a:t>
            </a:r>
            <a:endParaRPr sz="1100"/>
          </a:p>
        </p:txBody>
      </p:sp>
      <p:sp>
        <p:nvSpPr>
          <p:cNvPr id="142" name="Google Shape;142;p14"/>
          <p:cNvSpPr/>
          <p:nvPr/>
        </p:nvSpPr>
        <p:spPr>
          <a:xfrm>
            <a:off x="4937325" y="1271575"/>
            <a:ext cx="3412800" cy="2314500"/>
          </a:xfrm>
          <a:prstGeom prst="roundRect">
            <a:avLst>
              <a:gd fmla="val 1765" name="adj"/>
            </a:avLst>
          </a:prstGeom>
          <a:noFill/>
          <a:ln cap="flat" cmpd="sng" w="228600">
            <a:solidFill>
              <a:srgbClr val="C88A0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330" y="1271588"/>
            <a:ext cx="3412800" cy="23145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150" name="Google Shape;150;p15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/>
          </a:p>
        </p:txBody>
      </p:sp>
      <p:sp>
        <p:nvSpPr>
          <p:cNvPr id="151" name="Google Shape;151;p15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02 / 10</a:t>
            </a:r>
            <a:endParaRPr sz="1100"/>
          </a:p>
        </p:txBody>
      </p:sp>
      <p:sp>
        <p:nvSpPr>
          <p:cNvPr id="152" name="Google Shape;152;p15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THE IDEA</a:t>
            </a:r>
            <a:endParaRPr sz="1100"/>
          </a:p>
        </p:txBody>
      </p:sp>
      <p:sp>
        <p:nvSpPr>
          <p:cNvPr id="153" name="Google Shape;153;p15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628650" y="700088"/>
            <a:ext cx="64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The loop is simple: capture, understand, keep, revisit.</a:t>
            </a:r>
            <a:endParaRPr sz="1100"/>
          </a:p>
        </p:txBody>
      </p:sp>
      <p:sp>
        <p:nvSpPr>
          <p:cNvPr id="155" name="Google Shape;155;p15"/>
          <p:cNvSpPr txBox="1"/>
          <p:nvPr/>
        </p:nvSpPr>
        <p:spPr>
          <a:xfrm>
            <a:off x="628650" y="1314450"/>
            <a:ext cx="6715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Loquela turns a moment from real content into something you can return to later.</a:t>
            </a:r>
            <a:endParaRPr sz="1100"/>
          </a:p>
        </p:txBody>
      </p:sp>
      <p:sp>
        <p:nvSpPr>
          <p:cNvPr id="156" name="Google Shape;156;p15"/>
          <p:cNvSpPr/>
          <p:nvPr/>
        </p:nvSpPr>
        <p:spPr>
          <a:xfrm>
            <a:off x="628650" y="1985963"/>
            <a:ext cx="1743000" cy="1314600"/>
          </a:xfrm>
          <a:prstGeom prst="roundRect">
            <a:avLst>
              <a:gd fmla="val 3261" name="adj"/>
            </a:avLst>
          </a:prstGeom>
          <a:solidFill>
            <a:srgbClr val="FFFFFF"/>
          </a:solidFill>
          <a:ln cap="flat" cmpd="sng" w="9525">
            <a:solidFill>
              <a:srgbClr val="DEDCC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785813" y="2143125"/>
            <a:ext cx="243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600"/>
              <a:buFont typeface="Courier New"/>
              <a:buNone/>
            </a:pPr>
            <a:r>
              <a:rPr b="1" i="0" lang="en" sz="600" u="none" cap="none" strike="noStrike">
                <a:solidFill>
                  <a:srgbClr val="166434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1100"/>
          </a:p>
        </p:txBody>
      </p:sp>
      <p:sp>
        <p:nvSpPr>
          <p:cNvPr id="158" name="Google Shape;158;p15"/>
          <p:cNvSpPr txBox="1"/>
          <p:nvPr/>
        </p:nvSpPr>
        <p:spPr>
          <a:xfrm>
            <a:off x="785813" y="2400300"/>
            <a:ext cx="1400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Capture</a:t>
            </a:r>
            <a:endParaRPr sz="1100"/>
          </a:p>
        </p:txBody>
      </p:sp>
      <p:sp>
        <p:nvSpPr>
          <p:cNvPr id="159" name="Google Shape;159;p15"/>
          <p:cNvSpPr/>
          <p:nvPr/>
        </p:nvSpPr>
        <p:spPr>
          <a:xfrm>
            <a:off x="785813" y="2728913"/>
            <a:ext cx="4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785813" y="2886075"/>
            <a:ext cx="140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Bring in a video, document, or pasted passage.</a:t>
            </a:r>
            <a:endParaRPr sz="1100"/>
          </a:p>
        </p:txBody>
      </p:sp>
      <p:sp>
        <p:nvSpPr>
          <p:cNvPr id="161" name="Google Shape;161;p15"/>
          <p:cNvSpPr txBox="1"/>
          <p:nvPr/>
        </p:nvSpPr>
        <p:spPr>
          <a:xfrm>
            <a:off x="2371725" y="2500313"/>
            <a:ext cx="328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C88A04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sz="1100"/>
          </a:p>
        </p:txBody>
      </p:sp>
      <p:sp>
        <p:nvSpPr>
          <p:cNvPr id="162" name="Google Shape;162;p15"/>
          <p:cNvSpPr/>
          <p:nvPr/>
        </p:nvSpPr>
        <p:spPr>
          <a:xfrm>
            <a:off x="2728913" y="1985963"/>
            <a:ext cx="1743000" cy="1314600"/>
          </a:xfrm>
          <a:prstGeom prst="roundRect">
            <a:avLst>
              <a:gd fmla="val 3261" name="adj"/>
            </a:avLst>
          </a:prstGeom>
          <a:solidFill>
            <a:srgbClr val="FFFFFF"/>
          </a:solidFill>
          <a:ln cap="flat" cmpd="sng" w="9525">
            <a:solidFill>
              <a:srgbClr val="DEDCC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2886075" y="2143125"/>
            <a:ext cx="243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600"/>
              <a:buFont typeface="Courier New"/>
              <a:buNone/>
            </a:pPr>
            <a:r>
              <a:rPr b="1" i="0" lang="en" sz="600" u="none" cap="none" strike="noStrike">
                <a:solidFill>
                  <a:srgbClr val="166434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1100"/>
          </a:p>
        </p:txBody>
      </p:sp>
      <p:sp>
        <p:nvSpPr>
          <p:cNvPr id="164" name="Google Shape;164;p15"/>
          <p:cNvSpPr txBox="1"/>
          <p:nvPr/>
        </p:nvSpPr>
        <p:spPr>
          <a:xfrm>
            <a:off x="2886075" y="2400300"/>
            <a:ext cx="1400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Understand</a:t>
            </a:r>
            <a:endParaRPr sz="1100"/>
          </a:p>
        </p:txBody>
      </p:sp>
      <p:sp>
        <p:nvSpPr>
          <p:cNvPr id="165" name="Google Shape;165;p15"/>
          <p:cNvSpPr/>
          <p:nvPr/>
        </p:nvSpPr>
        <p:spPr>
          <a:xfrm>
            <a:off x="2886075" y="2728913"/>
            <a:ext cx="4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2886075" y="2886075"/>
            <a:ext cx="140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Look up the word in the context where it appeared.</a:t>
            </a:r>
            <a:endParaRPr sz="1100"/>
          </a:p>
        </p:txBody>
      </p:sp>
      <p:sp>
        <p:nvSpPr>
          <p:cNvPr id="167" name="Google Shape;167;p15"/>
          <p:cNvSpPr txBox="1"/>
          <p:nvPr/>
        </p:nvSpPr>
        <p:spPr>
          <a:xfrm>
            <a:off x="4471988" y="2500313"/>
            <a:ext cx="328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C88A04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sz="1100"/>
          </a:p>
        </p:txBody>
      </p:sp>
      <p:sp>
        <p:nvSpPr>
          <p:cNvPr id="168" name="Google Shape;168;p15"/>
          <p:cNvSpPr/>
          <p:nvPr/>
        </p:nvSpPr>
        <p:spPr>
          <a:xfrm>
            <a:off x="4829175" y="1985963"/>
            <a:ext cx="1743000" cy="1314600"/>
          </a:xfrm>
          <a:prstGeom prst="roundRect">
            <a:avLst>
              <a:gd fmla="val 3261" name="adj"/>
            </a:avLst>
          </a:prstGeom>
          <a:solidFill>
            <a:srgbClr val="FFFFFF"/>
          </a:solidFill>
          <a:ln cap="flat" cmpd="sng" w="9525">
            <a:solidFill>
              <a:srgbClr val="DEDCC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4986338" y="2143125"/>
            <a:ext cx="243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600"/>
              <a:buFont typeface="Courier New"/>
              <a:buNone/>
            </a:pPr>
            <a:r>
              <a:rPr b="1" i="0" lang="en" sz="600" u="none" cap="none" strike="noStrike">
                <a:solidFill>
                  <a:srgbClr val="166434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1100"/>
          </a:p>
        </p:txBody>
      </p:sp>
      <p:sp>
        <p:nvSpPr>
          <p:cNvPr id="170" name="Google Shape;170;p15"/>
          <p:cNvSpPr txBox="1"/>
          <p:nvPr/>
        </p:nvSpPr>
        <p:spPr>
          <a:xfrm>
            <a:off x="4986338" y="2400300"/>
            <a:ext cx="1400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Keep</a:t>
            </a:r>
            <a:endParaRPr sz="1100"/>
          </a:p>
        </p:txBody>
      </p:sp>
      <p:sp>
        <p:nvSpPr>
          <p:cNvPr id="171" name="Google Shape;171;p15"/>
          <p:cNvSpPr/>
          <p:nvPr/>
        </p:nvSpPr>
        <p:spPr>
          <a:xfrm>
            <a:off x="4986338" y="2728913"/>
            <a:ext cx="4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4986338" y="2886075"/>
            <a:ext cx="140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Save the definition, example, and source provenance.</a:t>
            </a:r>
            <a:endParaRPr sz="1100"/>
          </a:p>
        </p:txBody>
      </p:sp>
      <p:sp>
        <p:nvSpPr>
          <p:cNvPr id="173" name="Google Shape;173;p15"/>
          <p:cNvSpPr txBox="1"/>
          <p:nvPr/>
        </p:nvSpPr>
        <p:spPr>
          <a:xfrm>
            <a:off x="6572250" y="2500313"/>
            <a:ext cx="328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1400"/>
              <a:buFont typeface="Georgia"/>
              <a:buNone/>
            </a:pPr>
            <a:r>
              <a:rPr b="1" i="0" lang="en" sz="1400" u="none" cap="none" strike="noStrike">
                <a:solidFill>
                  <a:srgbClr val="C88A04"/>
                </a:solidFill>
                <a:latin typeface="Georgia"/>
                <a:ea typeface="Georgia"/>
                <a:cs typeface="Georgia"/>
                <a:sym typeface="Georgia"/>
              </a:rPr>
              <a:t>→</a:t>
            </a:r>
            <a:endParaRPr sz="1100"/>
          </a:p>
        </p:txBody>
      </p:sp>
      <p:sp>
        <p:nvSpPr>
          <p:cNvPr id="174" name="Google Shape;174;p15"/>
          <p:cNvSpPr/>
          <p:nvPr/>
        </p:nvSpPr>
        <p:spPr>
          <a:xfrm>
            <a:off x="6929438" y="1985963"/>
            <a:ext cx="1743000" cy="1314600"/>
          </a:xfrm>
          <a:prstGeom prst="roundRect">
            <a:avLst>
              <a:gd fmla="val 3261" name="adj"/>
            </a:avLst>
          </a:prstGeom>
          <a:solidFill>
            <a:srgbClr val="FFFFFF"/>
          </a:solidFill>
          <a:ln cap="flat" cmpd="sng" w="9525">
            <a:solidFill>
              <a:srgbClr val="DEDCC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7086600" y="2143125"/>
            <a:ext cx="243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600"/>
              <a:buFont typeface="Courier New"/>
              <a:buNone/>
            </a:pPr>
            <a:r>
              <a:rPr b="1" i="0" lang="en" sz="600" u="none" cap="none" strike="noStrike">
                <a:solidFill>
                  <a:srgbClr val="166434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sz="1100"/>
          </a:p>
        </p:txBody>
      </p:sp>
      <p:sp>
        <p:nvSpPr>
          <p:cNvPr id="176" name="Google Shape;176;p15"/>
          <p:cNvSpPr txBox="1"/>
          <p:nvPr/>
        </p:nvSpPr>
        <p:spPr>
          <a:xfrm>
            <a:off x="7086600" y="2400300"/>
            <a:ext cx="1400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1200"/>
              <a:buFont typeface="Georgia"/>
              <a:buNone/>
            </a:pPr>
            <a:r>
              <a:rPr b="1" i="0" lang="en" sz="12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Revisit</a:t>
            </a:r>
            <a:endParaRPr sz="1100"/>
          </a:p>
        </p:txBody>
      </p:sp>
      <p:sp>
        <p:nvSpPr>
          <p:cNvPr id="177" name="Google Shape;177;p15"/>
          <p:cNvSpPr/>
          <p:nvPr/>
        </p:nvSpPr>
        <p:spPr>
          <a:xfrm>
            <a:off x="7086600" y="2728913"/>
            <a:ext cx="4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7086600" y="2886075"/>
            <a:ext cx="1400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Practice the cards now or export them to Anki.</a:t>
            </a:r>
            <a:endParaRPr sz="1100"/>
          </a:p>
        </p:txBody>
      </p:sp>
      <p:sp>
        <p:nvSpPr>
          <p:cNvPr id="179" name="Google Shape;179;p15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66434"/>
                </a:solidFill>
              </a:rPr>
              <a:t>A single word can move from real content into lasting practice.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187" name="Google Shape;187;p16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/>
          </a:p>
        </p:txBody>
      </p:sp>
      <p:sp>
        <p:nvSpPr>
          <p:cNvPr id="188" name="Google Shape;188;p16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03 / 10</a:t>
            </a:r>
            <a:endParaRPr sz="1100"/>
          </a:p>
        </p:txBody>
      </p:sp>
      <p:sp>
        <p:nvSpPr>
          <p:cNvPr id="189" name="Google Shape;189;p16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SOURCES</a:t>
            </a:r>
            <a:endParaRPr sz="1100"/>
          </a:p>
        </p:txBody>
      </p:sp>
      <p:sp>
        <p:nvSpPr>
          <p:cNvPr id="190" name="Google Shape;190;p16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628650" y="700088"/>
            <a:ext cx="64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Start with the content you already have.</a:t>
            </a:r>
            <a:endParaRPr sz="1100"/>
          </a:p>
        </p:txBody>
      </p:sp>
      <p:sp>
        <p:nvSpPr>
          <p:cNvPr id="192" name="Google Shape;192;p16"/>
          <p:cNvSpPr txBox="1"/>
          <p:nvPr/>
        </p:nvSpPr>
        <p:spPr>
          <a:xfrm>
            <a:off x="628650" y="1314450"/>
            <a:ext cx="6715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Ingest a source once, then use it as searchable context later.</a:t>
            </a:r>
            <a:endParaRPr sz="1100"/>
          </a:p>
        </p:txBody>
      </p:sp>
      <p:sp>
        <p:nvSpPr>
          <p:cNvPr id="193" name="Google Shape;193;p16"/>
          <p:cNvSpPr/>
          <p:nvPr/>
        </p:nvSpPr>
        <p:spPr>
          <a:xfrm>
            <a:off x="1357313" y="1528763"/>
            <a:ext cx="6429300" cy="3000300"/>
          </a:xfrm>
          <a:prstGeom prst="roundRect">
            <a:avLst>
              <a:gd fmla="val 1429" name="adj"/>
            </a:avLst>
          </a:prstGeom>
          <a:solidFill>
            <a:srgbClr val="FFFFFF"/>
          </a:solidFill>
          <a:ln cap="flat" cmpd="sng" w="19050">
            <a:solidFill>
              <a:srgbClr val="16643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2.png" id="194" name="Google Shape;1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4460" y="1585913"/>
            <a:ext cx="4815081" cy="288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/>
          <p:nvPr/>
        </p:nvSpPr>
        <p:spPr>
          <a:xfrm>
            <a:off x="5613588" y="4554188"/>
            <a:ext cx="2000100" cy="1785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5699313" y="4597050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ADD A SOURCE</a:t>
            </a:r>
            <a:endParaRPr sz="1100"/>
          </a:p>
        </p:txBody>
      </p:sp>
      <p:sp>
        <p:nvSpPr>
          <p:cNvPr id="197" name="Google Shape;197;p16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6434"/>
                </a:solidFill>
                <a:latin typeface="Arial"/>
                <a:ea typeface="Arial"/>
                <a:cs typeface="Arial"/>
                <a:sym typeface="Arial"/>
              </a:rPr>
              <a:t>Current intake paths: pasted text, YouTube captions, and PDF / TXT / EPUB upload.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205" name="Google Shape;205;p17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/>
          </a:p>
        </p:txBody>
      </p:sp>
      <p:sp>
        <p:nvSpPr>
          <p:cNvPr id="206" name="Google Shape;206;p17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04 / 10</a:t>
            </a:r>
            <a:endParaRPr sz="1100"/>
          </a:p>
        </p:txBody>
      </p:sp>
      <p:sp>
        <p:nvSpPr>
          <p:cNvPr id="207" name="Google Shape;207;p17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SOURCES</a:t>
            </a:r>
            <a:endParaRPr sz="1100"/>
          </a:p>
        </p:txBody>
      </p:sp>
      <p:sp>
        <p:nvSpPr>
          <p:cNvPr id="208" name="Google Shape;208;p17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628650" y="700088"/>
            <a:ext cx="64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Follow the source to ready.</a:t>
            </a:r>
            <a:endParaRPr sz="1100"/>
          </a:p>
        </p:txBody>
      </p:sp>
      <p:sp>
        <p:nvSpPr>
          <p:cNvPr id="210" name="Google Shape;210;p17"/>
          <p:cNvSpPr txBox="1"/>
          <p:nvPr/>
        </p:nvSpPr>
        <p:spPr>
          <a:xfrm>
            <a:off x="628650" y="1314450"/>
            <a:ext cx="6715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Leave the page while ingestion continues, then return when the source is searchable.</a:t>
            </a:r>
            <a:endParaRPr sz="1100"/>
          </a:p>
        </p:txBody>
      </p:sp>
      <p:sp>
        <p:nvSpPr>
          <p:cNvPr id="211" name="Google Shape;211;p17"/>
          <p:cNvSpPr/>
          <p:nvPr/>
        </p:nvSpPr>
        <p:spPr>
          <a:xfrm>
            <a:off x="628650" y="1757363"/>
            <a:ext cx="3800400" cy="2214600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9050">
            <a:solidFill>
              <a:srgbClr val="0F756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3.png"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999" y="1814513"/>
            <a:ext cx="3517779" cy="210026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7"/>
          <p:cNvSpPr/>
          <p:nvPr/>
        </p:nvSpPr>
        <p:spPr>
          <a:xfrm>
            <a:off x="771525" y="1505411"/>
            <a:ext cx="2000100" cy="178500"/>
          </a:xfrm>
          <a:prstGeom prst="rect">
            <a:avLst/>
          </a:prstGeom>
          <a:solidFill>
            <a:srgbClr val="0F756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857250" y="1548273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PROCESSING CONTINUES</a:t>
            </a:r>
            <a:endParaRPr sz="1100"/>
          </a:p>
        </p:txBody>
      </p:sp>
      <p:sp>
        <p:nvSpPr>
          <p:cNvPr id="215" name="Google Shape;215;p17"/>
          <p:cNvSpPr/>
          <p:nvPr/>
        </p:nvSpPr>
        <p:spPr>
          <a:xfrm>
            <a:off x="4829175" y="1757363"/>
            <a:ext cx="3800400" cy="2214600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9050">
            <a:solidFill>
              <a:srgbClr val="C88A0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4.png" id="216" name="Google Shape;2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4503" y="1814513"/>
            <a:ext cx="3509822" cy="210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/>
          <p:nvPr/>
        </p:nvSpPr>
        <p:spPr>
          <a:xfrm>
            <a:off x="4972050" y="1505411"/>
            <a:ext cx="2000100" cy="178500"/>
          </a:xfrm>
          <a:prstGeom prst="rect">
            <a:avLst/>
          </a:prstGeom>
          <a:solidFill>
            <a:srgbClr val="C88A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5057775" y="1548273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READY TO SEARCH</a:t>
            </a:r>
            <a:endParaRPr sz="1100"/>
          </a:p>
        </p:txBody>
      </p:sp>
      <p:sp>
        <p:nvSpPr>
          <p:cNvPr id="219" name="Google Shape;219;p17"/>
          <p:cNvSpPr txBox="1"/>
          <p:nvPr/>
        </p:nvSpPr>
        <p:spPr>
          <a:xfrm>
            <a:off x="628650" y="4100513"/>
            <a:ext cx="3800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Processing continues in the background. Leave the page and return when the source is ready.</a:t>
            </a:r>
            <a:endParaRPr sz="1100"/>
          </a:p>
        </p:txBody>
      </p:sp>
      <p:sp>
        <p:nvSpPr>
          <p:cNvPr id="220" name="Google Shape;220;p17"/>
          <p:cNvSpPr txBox="1"/>
          <p:nvPr/>
        </p:nvSpPr>
        <p:spPr>
          <a:xfrm>
            <a:off x="4829175" y="4100513"/>
            <a:ext cx="3800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Once ready, the source exposes its language, word count, provenance, and searchable content.</a:t>
            </a:r>
            <a:endParaRPr sz="1100"/>
          </a:p>
        </p:txBody>
      </p:sp>
      <p:sp>
        <p:nvSpPr>
          <p:cNvPr id="221" name="Google Shape;221;p17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0F756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F756D"/>
                </a:solidFill>
                <a:latin typeface="Arial"/>
                <a:ea typeface="Arial"/>
                <a:cs typeface="Arial"/>
                <a:sym typeface="Arial"/>
              </a:rPr>
              <a:t>The source lifecycle is now readable as a sequence: add → process → search.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229" name="Google Shape;229;p18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/>
          </a:p>
        </p:txBody>
      </p:sp>
      <p:sp>
        <p:nvSpPr>
          <p:cNvPr id="230" name="Google Shape;230;p18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05 / 10</a:t>
            </a:r>
            <a:endParaRPr sz="1100"/>
          </a:p>
        </p:txBody>
      </p:sp>
      <p:sp>
        <p:nvSpPr>
          <p:cNvPr id="231" name="Google Shape;231;p18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LOOKUP</a:t>
            </a:r>
            <a:endParaRPr sz="1100"/>
          </a:p>
        </p:txBody>
      </p:sp>
      <p:sp>
        <p:nvSpPr>
          <p:cNvPr id="232" name="Google Shape;232;p18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628650" y="700088"/>
            <a:ext cx="64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Look up a word where you found it.</a:t>
            </a:r>
            <a:endParaRPr sz="1100"/>
          </a:p>
        </p:txBody>
      </p:sp>
      <p:sp>
        <p:nvSpPr>
          <p:cNvPr id="234" name="Google Shape;234;p18"/>
          <p:cNvSpPr txBox="1"/>
          <p:nvPr/>
        </p:nvSpPr>
        <p:spPr>
          <a:xfrm>
            <a:off x="628650" y="1314450"/>
            <a:ext cx="6715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Search, inspect the definition, and compare it with context from your sources.</a:t>
            </a:r>
            <a:endParaRPr sz="1100"/>
          </a:p>
        </p:txBody>
      </p:sp>
      <p:sp>
        <p:nvSpPr>
          <p:cNvPr id="235" name="Google Shape;235;p18"/>
          <p:cNvSpPr/>
          <p:nvPr/>
        </p:nvSpPr>
        <p:spPr>
          <a:xfrm>
            <a:off x="628650" y="1800225"/>
            <a:ext cx="3828900" cy="23145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19050">
            <a:solidFill>
              <a:srgbClr val="0F756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5.png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665" y="1857375"/>
            <a:ext cx="3683019" cy="22002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/>
          <p:nvPr/>
        </p:nvSpPr>
        <p:spPr>
          <a:xfrm>
            <a:off x="771525" y="1527533"/>
            <a:ext cx="2000100" cy="178500"/>
          </a:xfrm>
          <a:prstGeom prst="rect">
            <a:avLst/>
          </a:prstGeom>
          <a:solidFill>
            <a:srgbClr val="0F756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857250" y="1570396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LOOKUP IN PROGRESS</a:t>
            </a:r>
            <a:endParaRPr sz="1100"/>
          </a:p>
        </p:txBody>
      </p:sp>
      <p:sp>
        <p:nvSpPr>
          <p:cNvPr id="239" name="Google Shape;239;p18"/>
          <p:cNvSpPr/>
          <p:nvPr/>
        </p:nvSpPr>
        <p:spPr>
          <a:xfrm>
            <a:off x="4800600" y="1800225"/>
            <a:ext cx="3828900" cy="23145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19050">
            <a:solidFill>
              <a:srgbClr val="16643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6.png" id="240" name="Google Shape;2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1920349"/>
            <a:ext cx="3714748" cy="207432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/>
          <p:nvPr/>
        </p:nvSpPr>
        <p:spPr>
          <a:xfrm>
            <a:off x="4943475" y="1527533"/>
            <a:ext cx="2000100" cy="1785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5029200" y="1570396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LOOKUP RESULTS</a:t>
            </a:r>
            <a:endParaRPr sz="1100"/>
          </a:p>
        </p:txBody>
      </p:sp>
      <p:sp>
        <p:nvSpPr>
          <p:cNvPr id="243" name="Google Shape;243;p18"/>
          <p:cNvSpPr txBox="1"/>
          <p:nvPr/>
        </p:nvSpPr>
        <p:spPr>
          <a:xfrm>
            <a:off x="628650" y="4229100"/>
            <a:ext cx="38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The request starts with a language pair and ready-source filter.</a:t>
            </a:r>
            <a:endParaRPr sz="1100"/>
          </a:p>
        </p:txBody>
      </p:sp>
      <p:sp>
        <p:nvSpPr>
          <p:cNvPr id="244" name="Google Shape;244;p18"/>
          <p:cNvSpPr txBox="1"/>
          <p:nvPr/>
        </p:nvSpPr>
        <p:spPr>
          <a:xfrm>
            <a:off x="4800600" y="4229100"/>
            <a:ext cx="38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The result combines dictionary senses, corpus context, provenance, and Save card actions.</a:t>
            </a:r>
            <a:endParaRPr sz="1100"/>
          </a:p>
        </p:txBody>
      </p:sp>
      <p:sp>
        <p:nvSpPr>
          <p:cNvPr id="245" name="Google Shape;245;p18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66434"/>
                </a:solidFill>
              </a:rPr>
              <a:t>Here, Loquela looks up </a:t>
            </a:r>
            <a:r>
              <a:rPr b="1" i="1" lang="en" sz="700">
                <a:solidFill>
                  <a:srgbClr val="166434"/>
                </a:solidFill>
              </a:rPr>
              <a:t>aprender</a:t>
            </a:r>
            <a:r>
              <a:rPr b="1" lang="en" sz="700">
                <a:solidFill>
                  <a:srgbClr val="166434"/>
                </a:solidFill>
              </a:rPr>
              <a:t> inside the source corpus.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253" name="Google Shape;253;p19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100"/>
          </a:p>
        </p:txBody>
      </p:sp>
      <p:sp>
        <p:nvSpPr>
          <p:cNvPr id="254" name="Google Shape;254;p19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06 / 10</a:t>
            </a:r>
            <a:endParaRPr sz="1100"/>
          </a:p>
        </p:txBody>
      </p:sp>
      <p:sp>
        <p:nvSpPr>
          <p:cNvPr id="255" name="Google Shape;255;p19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CARDS</a:t>
            </a:r>
            <a:endParaRPr sz="1100"/>
          </a:p>
        </p:txBody>
      </p:sp>
      <p:sp>
        <p:nvSpPr>
          <p:cNvPr id="256" name="Google Shape;256;p19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628650" y="700088"/>
            <a:ext cx="64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Save the useful insight as a card.</a:t>
            </a:r>
            <a:endParaRPr sz="1100"/>
          </a:p>
        </p:txBody>
      </p:sp>
      <p:sp>
        <p:nvSpPr>
          <p:cNvPr id="258" name="Google Shape;258;p19"/>
          <p:cNvSpPr txBox="1"/>
          <p:nvPr/>
        </p:nvSpPr>
        <p:spPr>
          <a:xfrm>
            <a:off x="628650" y="1314450"/>
            <a:ext cx="6715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A card keeps the word, meaning, context, and destination deck together.</a:t>
            </a:r>
            <a:endParaRPr sz="1100"/>
          </a:p>
        </p:txBody>
      </p:sp>
      <p:sp>
        <p:nvSpPr>
          <p:cNvPr id="259" name="Google Shape;259;p19"/>
          <p:cNvSpPr/>
          <p:nvPr/>
        </p:nvSpPr>
        <p:spPr>
          <a:xfrm>
            <a:off x="628650" y="1800225"/>
            <a:ext cx="3828900" cy="23145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19050">
            <a:solidFill>
              <a:srgbClr val="C88A0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7.png" id="260" name="Google Shape;2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16895"/>
            <a:ext cx="3714749" cy="208123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9"/>
          <p:cNvSpPr/>
          <p:nvPr/>
        </p:nvSpPr>
        <p:spPr>
          <a:xfrm>
            <a:off x="771525" y="1541360"/>
            <a:ext cx="2000100" cy="178500"/>
          </a:xfrm>
          <a:prstGeom prst="rect">
            <a:avLst/>
          </a:prstGeom>
          <a:solidFill>
            <a:srgbClr val="C88A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857250" y="1584223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SAVE CARD</a:t>
            </a:r>
            <a:endParaRPr sz="1100"/>
          </a:p>
        </p:txBody>
      </p:sp>
      <p:sp>
        <p:nvSpPr>
          <p:cNvPr id="263" name="Google Shape;263;p19"/>
          <p:cNvSpPr/>
          <p:nvPr/>
        </p:nvSpPr>
        <p:spPr>
          <a:xfrm>
            <a:off x="4800600" y="1800225"/>
            <a:ext cx="3828900" cy="23145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19050">
            <a:solidFill>
              <a:srgbClr val="16643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8.png" id="264" name="Google Shape;2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1918623"/>
            <a:ext cx="3714752" cy="207777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/>
          <p:nvPr/>
        </p:nvSpPr>
        <p:spPr>
          <a:xfrm>
            <a:off x="4943475" y="1541360"/>
            <a:ext cx="2000100" cy="1785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5029200" y="1584223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CARD LIBRARY</a:t>
            </a:r>
            <a:endParaRPr sz="1100"/>
          </a:p>
        </p:txBody>
      </p:sp>
      <p:sp>
        <p:nvSpPr>
          <p:cNvPr id="267" name="Google Shape;267;p19"/>
          <p:cNvSpPr txBox="1"/>
          <p:nvPr/>
        </p:nvSpPr>
        <p:spPr>
          <a:xfrm>
            <a:off x="628650" y="4229100"/>
            <a:ext cx="38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Choose a destination deck before saving the definition and context.</a:t>
            </a:r>
            <a:endParaRPr sz="1100"/>
          </a:p>
        </p:txBody>
      </p:sp>
      <p:sp>
        <p:nvSpPr>
          <p:cNvPr id="268" name="Google Shape;268;p19"/>
          <p:cNvSpPr txBox="1"/>
          <p:nvPr/>
        </p:nvSpPr>
        <p:spPr>
          <a:xfrm>
            <a:off x="4800600" y="4229100"/>
            <a:ext cx="38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Saved cards retain the front, back/context, deck, and provenance for later editing.</a:t>
            </a:r>
            <a:endParaRPr sz="1100"/>
          </a:p>
        </p:txBody>
      </p:sp>
      <p:sp>
        <p:nvSpPr>
          <p:cNvPr id="269" name="Google Shape;269;p19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6434"/>
                </a:solidFill>
                <a:latin typeface="Arial"/>
                <a:ea typeface="Arial"/>
                <a:cs typeface="Arial"/>
                <a:sym typeface="Arial"/>
              </a:rPr>
              <a:t>The lookup becomes durable study material instead of a one-off definition.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0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277" name="Google Shape;277;p20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100"/>
          </a:p>
        </p:txBody>
      </p:sp>
      <p:sp>
        <p:nvSpPr>
          <p:cNvPr id="278" name="Google Shape;278;p20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07 / 10</a:t>
            </a:r>
            <a:endParaRPr sz="1100"/>
          </a:p>
        </p:txBody>
      </p:sp>
      <p:sp>
        <p:nvSpPr>
          <p:cNvPr id="279" name="Google Shape;279;p20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DECKS</a:t>
            </a:r>
            <a:endParaRPr sz="1100"/>
          </a:p>
        </p:txBody>
      </p:sp>
      <p:sp>
        <p:nvSpPr>
          <p:cNvPr id="280" name="Google Shape;280;p20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628650" y="700088"/>
            <a:ext cx="64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Give cards a home, then export it.</a:t>
            </a:r>
            <a:endParaRPr sz="1100"/>
          </a:p>
        </p:txBody>
      </p:sp>
      <p:sp>
        <p:nvSpPr>
          <p:cNvPr id="282" name="Google Shape;282;p20"/>
          <p:cNvSpPr txBox="1"/>
          <p:nvPr/>
        </p:nvSpPr>
        <p:spPr>
          <a:xfrm>
            <a:off x="628650" y="1314450"/>
            <a:ext cx="6715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Decks organize the material by goal and create the handoff point to Anki.</a:t>
            </a:r>
            <a:endParaRPr sz="1100"/>
          </a:p>
        </p:txBody>
      </p:sp>
      <p:sp>
        <p:nvSpPr>
          <p:cNvPr id="283" name="Google Shape;283;p20"/>
          <p:cNvSpPr/>
          <p:nvPr/>
        </p:nvSpPr>
        <p:spPr>
          <a:xfrm>
            <a:off x="628650" y="1800225"/>
            <a:ext cx="3828900" cy="23145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19050">
            <a:solidFill>
              <a:srgbClr val="16643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9.png" id="284" name="Google Shape;2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16895"/>
            <a:ext cx="3714749" cy="208123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/>
          <p:nvPr/>
        </p:nvSpPr>
        <p:spPr>
          <a:xfrm>
            <a:off x="771525" y="1541360"/>
            <a:ext cx="2000100" cy="1785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857250" y="1584223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CREATE AND ORGANIZE DECKS</a:t>
            </a:r>
            <a:endParaRPr sz="1100"/>
          </a:p>
        </p:txBody>
      </p:sp>
      <p:sp>
        <p:nvSpPr>
          <p:cNvPr id="287" name="Google Shape;287;p20"/>
          <p:cNvSpPr/>
          <p:nvPr/>
        </p:nvSpPr>
        <p:spPr>
          <a:xfrm>
            <a:off x="4800600" y="1800225"/>
            <a:ext cx="3828900" cy="23145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19050">
            <a:solidFill>
              <a:srgbClr val="C88A0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0.png" id="288" name="Google Shape;2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1916895"/>
            <a:ext cx="3714749" cy="208123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0"/>
          <p:cNvSpPr/>
          <p:nvPr/>
        </p:nvSpPr>
        <p:spPr>
          <a:xfrm>
            <a:off x="4943475" y="1541360"/>
            <a:ext cx="2000100" cy="178500"/>
          </a:xfrm>
          <a:prstGeom prst="rect">
            <a:avLst/>
          </a:prstGeom>
          <a:solidFill>
            <a:srgbClr val="C88A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5029200" y="1584223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EXPORT AND DOWNLOAD</a:t>
            </a:r>
            <a:endParaRPr sz="1100"/>
          </a:p>
        </p:txBody>
      </p:sp>
      <p:sp>
        <p:nvSpPr>
          <p:cNvPr id="291" name="Google Shape;291;p20"/>
          <p:cNvSpPr txBox="1"/>
          <p:nvPr/>
        </p:nvSpPr>
        <p:spPr>
          <a:xfrm>
            <a:off x="628650" y="4229100"/>
            <a:ext cx="38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Create a deck, choose a theme, and see its cards in the library.</a:t>
            </a:r>
            <a:endParaRPr sz="1100"/>
          </a:p>
        </p:txBody>
      </p:sp>
      <p:sp>
        <p:nvSpPr>
          <p:cNvPr id="292" name="Google Shape;292;p20"/>
          <p:cNvSpPr txBox="1"/>
          <p:nvPr/>
        </p:nvSpPr>
        <p:spPr>
          <a:xfrm>
            <a:off x="4800600" y="4229100"/>
            <a:ext cx="38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Export a deck snapshot as an Anki package and download it from Recent exports.</a:t>
            </a:r>
            <a:endParaRPr sz="1100"/>
          </a:p>
        </p:txBody>
      </p:sp>
      <p:sp>
        <p:nvSpPr>
          <p:cNvPr id="293" name="Google Shape;293;p20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6434"/>
                </a:solidFill>
                <a:latin typeface="Arial"/>
                <a:ea typeface="Arial"/>
                <a:cs typeface="Arial"/>
                <a:sym typeface="Arial"/>
              </a:rPr>
              <a:t>Two larger captures keep creation, organization, and the export handoff legible.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1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301" name="Google Shape;301;p21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100"/>
          </a:p>
        </p:txBody>
      </p:sp>
      <p:sp>
        <p:nvSpPr>
          <p:cNvPr id="302" name="Google Shape;302;p21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08 / 10</a:t>
            </a:r>
            <a:endParaRPr sz="1100"/>
          </a:p>
        </p:txBody>
      </p:sp>
      <p:sp>
        <p:nvSpPr>
          <p:cNvPr id="303" name="Google Shape;303;p21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ANKI</a:t>
            </a:r>
            <a:endParaRPr sz="1100"/>
          </a:p>
        </p:txBody>
      </p:sp>
      <p:sp>
        <p:nvSpPr>
          <p:cNvPr id="304" name="Google Shape;304;p21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628650" y="700088"/>
            <a:ext cx="64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See the card exactly as Anki will receive it.</a:t>
            </a:r>
            <a:endParaRPr sz="1100"/>
          </a:p>
        </p:txBody>
      </p:sp>
      <p:sp>
        <p:nvSpPr>
          <p:cNvPr id="306" name="Google Shape;306;p21"/>
          <p:cNvSpPr txBox="1"/>
          <p:nvPr/>
        </p:nvSpPr>
        <p:spPr>
          <a:xfrm>
            <a:off x="628650" y="1314450"/>
            <a:ext cx="6715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The exported deck makes the workflow portable beyond Loquela.</a:t>
            </a:r>
            <a:endParaRPr sz="1100"/>
          </a:p>
        </p:txBody>
      </p:sp>
      <p:sp>
        <p:nvSpPr>
          <p:cNvPr id="307" name="Google Shape;307;p21"/>
          <p:cNvSpPr/>
          <p:nvPr/>
        </p:nvSpPr>
        <p:spPr>
          <a:xfrm>
            <a:off x="628650" y="1800225"/>
            <a:ext cx="3828900" cy="23145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19050">
            <a:solidFill>
              <a:srgbClr val="16643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1.png" id="308" name="Google Shape;3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273" y="1857375"/>
            <a:ext cx="3509803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1"/>
          <p:cNvSpPr/>
          <p:nvPr/>
        </p:nvSpPr>
        <p:spPr>
          <a:xfrm>
            <a:off x="771525" y="1534447"/>
            <a:ext cx="2000100" cy="1785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857250" y="1577309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ANKI FRONT</a:t>
            </a:r>
            <a:endParaRPr sz="1100"/>
          </a:p>
        </p:txBody>
      </p:sp>
      <p:sp>
        <p:nvSpPr>
          <p:cNvPr id="311" name="Google Shape;311;p21"/>
          <p:cNvSpPr/>
          <p:nvPr/>
        </p:nvSpPr>
        <p:spPr>
          <a:xfrm>
            <a:off x="4800600" y="1800225"/>
            <a:ext cx="3828900" cy="2314500"/>
          </a:xfrm>
          <a:prstGeom prst="roundRect">
            <a:avLst>
              <a:gd fmla="val 1852" name="adj"/>
            </a:avLst>
          </a:prstGeom>
          <a:solidFill>
            <a:srgbClr val="FFFFFF"/>
          </a:solidFill>
          <a:ln cap="flat" cmpd="sng" w="19050">
            <a:solidFill>
              <a:srgbClr val="C88A0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2.png" id="312" name="Google Shape;3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7344" y="1857375"/>
            <a:ext cx="3515562" cy="220027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/>
          <p:nvPr/>
        </p:nvSpPr>
        <p:spPr>
          <a:xfrm>
            <a:off x="4943475" y="1548273"/>
            <a:ext cx="2000100" cy="178500"/>
          </a:xfrm>
          <a:prstGeom prst="rect">
            <a:avLst/>
          </a:prstGeom>
          <a:solidFill>
            <a:srgbClr val="C88A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029200" y="1577309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ANKI BACK</a:t>
            </a:r>
            <a:endParaRPr sz="1100"/>
          </a:p>
        </p:txBody>
      </p:sp>
      <p:sp>
        <p:nvSpPr>
          <p:cNvPr id="315" name="Google Shape;315;p21"/>
          <p:cNvSpPr txBox="1"/>
          <p:nvPr/>
        </p:nvSpPr>
        <p:spPr>
          <a:xfrm>
            <a:off x="628650" y="4229100"/>
            <a:ext cx="38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Front: recall the target word from the source context.</a:t>
            </a:r>
            <a:endParaRPr sz="1100"/>
          </a:p>
        </p:txBody>
      </p:sp>
      <p:sp>
        <p:nvSpPr>
          <p:cNvPr id="316" name="Google Shape;316;p21"/>
          <p:cNvSpPr txBox="1"/>
          <p:nvPr/>
        </p:nvSpPr>
        <p:spPr>
          <a:xfrm>
            <a:off x="4800600" y="4229100"/>
            <a:ext cx="3828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Back: reveal the definition, context, source, and timestamp.</a:t>
            </a:r>
            <a:endParaRPr sz="1100"/>
          </a:p>
        </p:txBody>
      </p:sp>
      <p:sp>
        <p:nvSpPr>
          <p:cNvPr id="317" name="Google Shape;317;p21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6434"/>
                </a:solidFill>
                <a:latin typeface="Arial"/>
                <a:ea typeface="Arial"/>
                <a:cs typeface="Arial"/>
                <a:sym typeface="Arial"/>
              </a:rPr>
              <a:t>Anki receives a portable front/back card with source context preserved.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325" name="Google Shape;325;p22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100"/>
          </a:p>
        </p:txBody>
      </p:sp>
      <p:sp>
        <p:nvSpPr>
          <p:cNvPr id="326" name="Google Shape;326;p22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09 / 10</a:t>
            </a:r>
            <a:endParaRPr sz="1100"/>
          </a:p>
        </p:txBody>
      </p:sp>
      <p:sp>
        <p:nvSpPr>
          <p:cNvPr id="327" name="Google Shape;327;p22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PRACTICE</a:t>
            </a:r>
            <a:endParaRPr sz="1100"/>
          </a:p>
        </p:txBody>
      </p:sp>
      <p:sp>
        <p:nvSpPr>
          <p:cNvPr id="328" name="Google Shape;328;p22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628650" y="700088"/>
            <a:ext cx="64293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Practice brings the loop back to memory.</a:t>
            </a:r>
            <a:endParaRPr sz="1100"/>
          </a:p>
        </p:txBody>
      </p:sp>
      <p:sp>
        <p:nvSpPr>
          <p:cNvPr id="330" name="Google Shape;330;p22"/>
          <p:cNvSpPr txBox="1"/>
          <p:nvPr/>
        </p:nvSpPr>
        <p:spPr>
          <a:xfrm>
            <a:off x="628650" y="1314450"/>
            <a:ext cx="6715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Keep the final slide focused on the simple practice experience, with dark mode as a small aside.</a:t>
            </a:r>
            <a:endParaRPr sz="1100"/>
          </a:p>
        </p:txBody>
      </p:sp>
      <p:sp>
        <p:nvSpPr>
          <p:cNvPr id="331" name="Google Shape;331;p22"/>
          <p:cNvSpPr/>
          <p:nvPr/>
        </p:nvSpPr>
        <p:spPr>
          <a:xfrm>
            <a:off x="628650" y="1800225"/>
            <a:ext cx="5272200" cy="2443200"/>
          </a:xfrm>
          <a:prstGeom prst="roundRect">
            <a:avLst>
              <a:gd fmla="val 1754" name="adj"/>
            </a:avLst>
          </a:prstGeom>
          <a:solidFill>
            <a:srgbClr val="FFFFFF"/>
          </a:solidFill>
          <a:ln cap="flat" cmpd="sng" w="19050">
            <a:solidFill>
              <a:srgbClr val="16643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3.png" id="332" name="Google Shape;3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5693" y="1857375"/>
            <a:ext cx="4137999" cy="232886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/>
          <p:nvPr/>
        </p:nvSpPr>
        <p:spPr>
          <a:xfrm>
            <a:off x="771525" y="1536123"/>
            <a:ext cx="2000100" cy="1785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857250" y="1578985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LOQUELA CARD / ANSWER SHOWN</a:t>
            </a:r>
            <a:endParaRPr sz="1100"/>
          </a:p>
        </p:txBody>
      </p:sp>
      <p:sp>
        <p:nvSpPr>
          <p:cNvPr id="335" name="Google Shape;335;p22"/>
          <p:cNvSpPr/>
          <p:nvPr/>
        </p:nvSpPr>
        <p:spPr>
          <a:xfrm>
            <a:off x="6243638" y="1800225"/>
            <a:ext cx="2385900" cy="1100100"/>
          </a:xfrm>
          <a:prstGeom prst="roundRect">
            <a:avLst>
              <a:gd fmla="val 3896" name="adj"/>
            </a:avLst>
          </a:prstGeom>
          <a:solidFill>
            <a:srgbClr val="FFFFFF"/>
          </a:solidFill>
          <a:ln cap="flat" cmpd="sng" w="19050">
            <a:solidFill>
              <a:srgbClr val="0F756D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14.png" id="336" name="Google Shape;3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5381" y="1857375"/>
            <a:ext cx="1762527" cy="98583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/>
          <p:nvPr/>
        </p:nvSpPr>
        <p:spPr>
          <a:xfrm>
            <a:off x="6386513" y="1536123"/>
            <a:ext cx="2000100" cy="178500"/>
          </a:xfrm>
          <a:prstGeom prst="rect">
            <a:avLst/>
          </a:prstGeom>
          <a:solidFill>
            <a:srgbClr val="0F756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6472238" y="1578985"/>
            <a:ext cx="18288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REAL SCREENSHOT / DARK MODE</a:t>
            </a:r>
            <a:endParaRPr sz="1100"/>
          </a:p>
        </p:txBody>
      </p:sp>
      <p:sp>
        <p:nvSpPr>
          <p:cNvPr id="339" name="Google Shape;339;p22"/>
          <p:cNvSpPr/>
          <p:nvPr/>
        </p:nvSpPr>
        <p:spPr>
          <a:xfrm>
            <a:off x="6243638" y="3143250"/>
            <a:ext cx="2385900" cy="1100100"/>
          </a:xfrm>
          <a:prstGeom prst="roundRect">
            <a:avLst>
              <a:gd fmla="val 3896" name="adj"/>
            </a:avLst>
          </a:prstGeom>
          <a:solidFill>
            <a:srgbClr val="FFF4D8"/>
          </a:solidFill>
          <a:ln cap="flat" cmpd="sng" w="9525">
            <a:solidFill>
              <a:srgbClr val="C88A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6415088" y="3314700"/>
            <a:ext cx="1500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C88A04"/>
                </a:solidFill>
                <a:latin typeface="Courier New"/>
                <a:ea typeface="Courier New"/>
                <a:cs typeface="Courier New"/>
                <a:sym typeface="Courier New"/>
              </a:rPr>
              <a:t>CURRENT STATE</a:t>
            </a:r>
            <a:endParaRPr sz="1100"/>
          </a:p>
        </p:txBody>
      </p:sp>
      <p:sp>
        <p:nvSpPr>
          <p:cNvPr id="341" name="Google Shape;341;p22"/>
          <p:cNvSpPr txBox="1"/>
          <p:nvPr/>
        </p:nvSpPr>
        <p:spPr>
          <a:xfrm>
            <a:off x="6415088" y="3571875"/>
            <a:ext cx="20145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050316"/>
                </a:solidFill>
                <a:latin typeface="Arial"/>
                <a:ea typeface="Arial"/>
                <a:cs typeface="Arial"/>
                <a:sym typeface="Arial"/>
              </a:rPr>
              <a:t>Simple practice only — ratings do not change Anki scheduling.</a:t>
            </a:r>
            <a:endParaRPr sz="1100"/>
          </a:p>
        </p:txBody>
      </p:sp>
      <p:sp>
        <p:nvSpPr>
          <p:cNvPr id="342" name="Google Shape;342;p22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166434"/>
                </a:solidFill>
              </a:rPr>
              <a:t>Loquela turns the content you already care about into practice you can return to.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5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/>
          <p:nvPr/>
        </p:nvSpPr>
        <p:spPr>
          <a:xfrm>
            <a:off x="0" y="0"/>
            <a:ext cx="400200" cy="5143500"/>
          </a:xfrm>
          <a:prstGeom prst="rect">
            <a:avLst/>
          </a:prstGeom>
          <a:solidFill>
            <a:srgbClr val="104B2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 txBox="1"/>
          <p:nvPr/>
        </p:nvSpPr>
        <p:spPr>
          <a:xfrm>
            <a:off x="100013" y="200025"/>
            <a:ext cx="2001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8A04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C88A04"/>
                </a:solidFill>
                <a:latin typeface="Arial"/>
                <a:ea typeface="Arial"/>
                <a:cs typeface="Arial"/>
                <a:sym typeface="Arial"/>
              </a:rPr>
              <a:t>LQ</a:t>
            </a:r>
            <a:endParaRPr sz="1100"/>
          </a:p>
        </p:txBody>
      </p:sp>
      <p:sp>
        <p:nvSpPr>
          <p:cNvPr id="350" name="Google Shape;350;p23"/>
          <p:cNvSpPr txBox="1"/>
          <p:nvPr/>
        </p:nvSpPr>
        <p:spPr>
          <a:xfrm>
            <a:off x="107156" y="4714875"/>
            <a:ext cx="185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5"/>
              </a:buClr>
              <a:buSzPts val="600"/>
              <a:buFont typeface="Arial"/>
              <a:buNone/>
            </a:pPr>
            <a:r>
              <a:rPr b="1" i="0" lang="en" sz="600" u="none" cap="none" strike="noStrike">
                <a:solidFill>
                  <a:srgbClr val="FFFDF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/>
          </a:p>
        </p:txBody>
      </p:sp>
      <p:sp>
        <p:nvSpPr>
          <p:cNvPr id="351" name="Google Shape;351;p23"/>
          <p:cNvSpPr txBox="1"/>
          <p:nvPr/>
        </p:nvSpPr>
        <p:spPr>
          <a:xfrm>
            <a:off x="628650" y="257175"/>
            <a:ext cx="2143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LOQUELA / FIELD GUIDE   10 / 10</a:t>
            </a:r>
            <a:endParaRPr sz="1100"/>
          </a:p>
        </p:txBody>
      </p:sp>
      <p:sp>
        <p:nvSpPr>
          <p:cNvPr id="352" name="Google Shape;352;p23"/>
          <p:cNvSpPr txBox="1"/>
          <p:nvPr/>
        </p:nvSpPr>
        <p:spPr>
          <a:xfrm>
            <a:off x="6643688" y="257175"/>
            <a:ext cx="198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500"/>
              <a:buFont typeface="Courier New"/>
              <a:buNone/>
            </a:pPr>
            <a:r>
              <a:rPr b="1" i="0" lang="en" sz="5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ACCESS</a:t>
            </a:r>
            <a:endParaRPr sz="1100"/>
          </a:p>
        </p:txBody>
      </p:sp>
      <p:sp>
        <p:nvSpPr>
          <p:cNvPr id="353" name="Google Shape;353;p23"/>
          <p:cNvSpPr/>
          <p:nvPr/>
        </p:nvSpPr>
        <p:spPr>
          <a:xfrm>
            <a:off x="628650" y="484584"/>
            <a:ext cx="8001000" cy="9600"/>
          </a:xfrm>
          <a:prstGeom prst="rect">
            <a:avLst/>
          </a:prstGeom>
          <a:solidFill>
            <a:srgbClr val="DEDCC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 txBox="1"/>
          <p:nvPr/>
        </p:nvSpPr>
        <p:spPr>
          <a:xfrm>
            <a:off x="628650" y="771525"/>
            <a:ext cx="49293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2100"/>
              <a:buFont typeface="Georgia"/>
              <a:buNone/>
            </a:pPr>
            <a:r>
              <a:rPr b="1" i="0" lang="en" sz="21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A note on access</a:t>
            </a:r>
            <a:endParaRPr sz="1100"/>
          </a:p>
        </p:txBody>
      </p:sp>
      <p:sp>
        <p:nvSpPr>
          <p:cNvPr id="355" name="Google Shape;355;p23"/>
          <p:cNvSpPr txBox="1"/>
          <p:nvPr/>
        </p:nvSpPr>
        <p:spPr>
          <a:xfrm>
            <a:off x="628650" y="1464469"/>
            <a:ext cx="40005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166434"/>
                </a:solidFill>
                <a:latin typeface="Georgia"/>
                <a:ea typeface="Georgia"/>
                <a:cs typeface="Georgia"/>
                <a:sym typeface="Georgia"/>
              </a:rPr>
              <a:t>Loquela is still being tested.</a:t>
            </a:r>
            <a:endParaRPr sz="1100"/>
          </a:p>
        </p:txBody>
      </p:sp>
      <p:sp>
        <p:nvSpPr>
          <p:cNvPr id="356" name="Google Shape;356;p23"/>
          <p:cNvSpPr txBox="1"/>
          <p:nvPr/>
        </p:nvSpPr>
        <p:spPr>
          <a:xfrm>
            <a:off x="628650" y="2043113"/>
            <a:ext cx="3500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Access is currently whitelisted and invite-only for certain email addresses while the product is in testing.</a:t>
            </a:r>
            <a:endParaRPr sz="1100"/>
          </a:p>
        </p:txBody>
      </p:sp>
      <p:sp>
        <p:nvSpPr>
          <p:cNvPr id="357" name="Google Shape;357;p23"/>
          <p:cNvSpPr/>
          <p:nvPr/>
        </p:nvSpPr>
        <p:spPr>
          <a:xfrm>
            <a:off x="628650" y="2943225"/>
            <a:ext cx="800100" cy="28500"/>
          </a:xfrm>
          <a:prstGeom prst="rect">
            <a:avLst/>
          </a:prstGeom>
          <a:solidFill>
            <a:srgbClr val="C88A0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628650" y="3143250"/>
            <a:ext cx="37149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50316"/>
                </a:solidFill>
                <a:latin typeface="Arial"/>
                <a:ea typeface="Arial"/>
                <a:cs typeface="Arial"/>
                <a:sym typeface="Arial"/>
              </a:rPr>
              <a:t>This deck documents the current experience — not yet a public release.</a:t>
            </a:r>
            <a:endParaRPr sz="1100"/>
          </a:p>
        </p:txBody>
      </p:sp>
      <p:sp>
        <p:nvSpPr>
          <p:cNvPr id="359" name="Google Shape;359;p23"/>
          <p:cNvSpPr/>
          <p:nvPr/>
        </p:nvSpPr>
        <p:spPr>
          <a:xfrm>
            <a:off x="5143500" y="1042988"/>
            <a:ext cx="3071700" cy="257190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9050">
            <a:solidFill>
              <a:srgbClr val="C88A04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dir="5400000" dist="9525">
              <a:srgbClr val="000000">
                <a:alpha val="588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5400675" y="1314450"/>
            <a:ext cx="1571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756D"/>
              </a:buClr>
              <a:buSzPts val="600"/>
              <a:buFont typeface="Courier New"/>
              <a:buNone/>
            </a:pPr>
            <a:r>
              <a:rPr b="1" i="0" lang="en" sz="600" u="none" cap="none" strike="noStrike">
                <a:solidFill>
                  <a:srgbClr val="0F756D"/>
                </a:solidFill>
                <a:latin typeface="Courier New"/>
                <a:ea typeface="Courier New"/>
                <a:cs typeface="Courier New"/>
                <a:sym typeface="Courier New"/>
              </a:rPr>
              <a:t>CURRENT ACCESS</a:t>
            </a:r>
            <a:endParaRPr sz="1100"/>
          </a:p>
        </p:txBody>
      </p:sp>
      <p:sp>
        <p:nvSpPr>
          <p:cNvPr id="361" name="Google Shape;361;p23"/>
          <p:cNvSpPr txBox="1"/>
          <p:nvPr/>
        </p:nvSpPr>
        <p:spPr>
          <a:xfrm>
            <a:off x="5400675" y="1700213"/>
            <a:ext cx="2286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50316"/>
              </a:buClr>
              <a:buSzPts val="1700"/>
              <a:buFont typeface="Georgia"/>
              <a:buNone/>
            </a:pPr>
            <a:r>
              <a:rPr b="1" i="0" lang="en" sz="1700" u="none" cap="none" strike="noStrike">
                <a:solidFill>
                  <a:srgbClr val="050316"/>
                </a:solidFill>
                <a:latin typeface="Georgia"/>
                <a:ea typeface="Georgia"/>
                <a:cs typeface="Georgia"/>
                <a:sym typeface="Georgia"/>
              </a:rPr>
              <a:t>Invite only</a:t>
            </a:r>
            <a:endParaRPr sz="1100"/>
          </a:p>
        </p:txBody>
      </p:sp>
      <p:sp>
        <p:nvSpPr>
          <p:cNvPr id="362" name="Google Shape;362;p23"/>
          <p:cNvSpPr/>
          <p:nvPr/>
        </p:nvSpPr>
        <p:spPr>
          <a:xfrm>
            <a:off x="5400675" y="2257425"/>
            <a:ext cx="6288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5400675" y="2500313"/>
            <a:ext cx="2143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Whitelisted email addresses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F5E73"/>
                </a:solidFill>
                <a:latin typeface="Arial"/>
                <a:ea typeface="Arial"/>
                <a:cs typeface="Arial"/>
                <a:sym typeface="Arial"/>
              </a:rPr>
              <a:t>while testing continues</a:t>
            </a:r>
            <a:endParaRPr sz="1100"/>
          </a:p>
        </p:txBody>
      </p:sp>
      <p:sp>
        <p:nvSpPr>
          <p:cNvPr id="364" name="Google Shape;364;p23"/>
          <p:cNvSpPr txBox="1"/>
          <p:nvPr/>
        </p:nvSpPr>
        <p:spPr>
          <a:xfrm>
            <a:off x="7658100" y="3271838"/>
            <a:ext cx="300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F5E73"/>
              </a:buClr>
              <a:buSzPts val="600"/>
              <a:buFont typeface="Courier New"/>
              <a:buNone/>
            </a:pPr>
            <a:r>
              <a:rPr b="1" i="0" lang="en" sz="600" u="none" cap="none" strike="noStrike">
                <a:solidFill>
                  <a:srgbClr val="5F5E73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100"/>
          </a:p>
        </p:txBody>
      </p:sp>
      <p:sp>
        <p:nvSpPr>
          <p:cNvPr id="365" name="Google Shape;365;p23"/>
          <p:cNvSpPr/>
          <p:nvPr/>
        </p:nvSpPr>
        <p:spPr>
          <a:xfrm>
            <a:off x="628650" y="4643438"/>
            <a:ext cx="785700" cy="21300"/>
          </a:xfrm>
          <a:prstGeom prst="rect">
            <a:avLst/>
          </a:prstGeom>
          <a:solidFill>
            <a:srgbClr val="1664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628650" y="4757738"/>
            <a:ext cx="7143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6434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166434"/>
                </a:solidFill>
                <a:latin typeface="Arial"/>
                <a:ea typeface="Arial"/>
                <a:cs typeface="Arial"/>
                <a:sym typeface="Arial"/>
              </a:rPr>
              <a:t>For portfolio viewers: invite access can be shared selectively during the testing phase.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